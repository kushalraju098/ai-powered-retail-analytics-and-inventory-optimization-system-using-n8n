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bin"/>
      <p:regular r:id="rId14"/>
    </p:embeddedFont>
    <p:embeddedFont>
      <p:font typeface="Unbounded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274D"/>
    <a:srgbClr val="172735"/>
    <a:srgbClr val="0D1D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7"/>
    <p:restoredTop sz="94610"/>
  </p:normalViewPr>
  <p:slideViewPr>
    <p:cSldViewPr snapToGrid="0" snapToObjects="1">
      <p:cViewPr>
        <p:scale>
          <a:sx n="169" d="100"/>
          <a:sy n="169" d="100"/>
        </p:scale>
        <p:origin x="-6272" y="-3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651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350645"/>
            <a:ext cx="7468553" cy="1847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Mangal Pro" panose="00000500000000000000" pitchFamily="2" charset="0"/>
              </a:rPr>
              <a:t>AI-Powered Retail Analytics &amp; Inventory Optimization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24124" y="3434001"/>
            <a:ext cx="7468553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9D933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From 32 Million Transactions to Actionable Intelligence, and Automated Pipeline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24124" y="4910376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24124" y="5481042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Natarajan , Rustam , Yash ,  Duy Nguyen, Kushal , Rajkumar 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24124" y="6051709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E653B0-D768-F8F9-0050-4664E9788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1598" y="7667126"/>
            <a:ext cx="1843232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212" y="940231"/>
            <a:ext cx="8628817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Overview &amp; Business Problem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953583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37724" y="3471029"/>
            <a:ext cx="622196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 grocery retailer manually produces weekly inventory insights </a:t>
            </a: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Manually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- export CSVs, analyzing in Excel.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7724" y="4329589"/>
            <a:ext cx="6221968" cy="150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3–4 hours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per report cycle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Predictive insights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Discovering stock outs after they occur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78328" y="2953583"/>
            <a:ext cx="289083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Business Questions</a:t>
            </a:r>
            <a:endParaRPr lang="en-US" sz="1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328" y="3497223"/>
            <a:ext cx="6220658" cy="26824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96927" y="5676197"/>
            <a:ext cx="3385924" cy="163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4. How should stores manage inventory?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96927" y="5055246"/>
            <a:ext cx="3187663" cy="163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3. When do customers shop the most?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96927" y="4357657"/>
            <a:ext cx="3145619" cy="32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2. Which products will customers buy again?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96927" y="3819618"/>
            <a:ext cx="2670204" cy="163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1. Which products sell the most?</a:t>
            </a:r>
            <a:endParaRPr lang="en-US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5826B9-94A8-57FA-19DA-E709493B5466}"/>
              </a:ext>
            </a:extLst>
          </p:cNvPr>
          <p:cNvSpPr/>
          <p:nvPr/>
        </p:nvSpPr>
        <p:spPr>
          <a:xfrm>
            <a:off x="12748591" y="7460974"/>
            <a:ext cx="1789044" cy="675860"/>
          </a:xfrm>
          <a:prstGeom prst="rect">
            <a:avLst/>
          </a:prstGeom>
          <a:solidFill>
            <a:srgbClr val="1727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81C4DC-9596-D8E0-884B-668895E8E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6484" y="7621784"/>
            <a:ext cx="1843232" cy="515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959" y="1324508"/>
            <a:ext cx="5210651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Technology Stack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37724" y="3339941"/>
            <a:ext cx="4178618" cy="1187529"/>
          </a:xfrm>
          <a:prstGeom prst="roundRect">
            <a:avLst>
              <a:gd name="adj" fmla="val 42332"/>
            </a:avLst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7155" y="354937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Python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47155" y="3982998"/>
            <a:ext cx="37597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 Cleaning &amp; Feature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25772" y="3339941"/>
            <a:ext cx="4178737" cy="1187529"/>
          </a:xfrm>
          <a:prstGeom prst="roundRect">
            <a:avLst>
              <a:gd name="adj" fmla="val 42332"/>
            </a:avLst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35203" y="3549372"/>
            <a:ext cx="277010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Machine Learning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35203" y="3982998"/>
            <a:ext cx="375987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XG Boost &amp; Logistic Regression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13940" y="3339941"/>
            <a:ext cx="4178737" cy="1187529"/>
          </a:xfrm>
          <a:prstGeom prst="roundRect">
            <a:avLst>
              <a:gd name="adj" fmla="val 42332"/>
            </a:avLst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23371" y="354937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Google Colab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23371" y="3982998"/>
            <a:ext cx="375987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Compute &amp; ML Pipelines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7724" y="4736902"/>
            <a:ext cx="4178618" cy="1187529"/>
          </a:xfrm>
          <a:prstGeom prst="roundRect">
            <a:avLst>
              <a:gd name="adj" fmla="val 42332"/>
            </a:avLst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155" y="4946333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Power BI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47155" y="5379958"/>
            <a:ext cx="37597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Dashboard &amp; Reports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25772" y="4736902"/>
            <a:ext cx="4178737" cy="1187529"/>
          </a:xfrm>
          <a:prstGeom prst="roundRect">
            <a:avLst>
              <a:gd name="adj" fmla="val 42332"/>
            </a:avLst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35203" y="4946333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Gemini AI Agent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435203" y="5379958"/>
            <a:ext cx="375987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Insights Generation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13940" y="4736902"/>
            <a:ext cx="4178737" cy="1187529"/>
          </a:xfrm>
          <a:prstGeom prst="roundRect">
            <a:avLst>
              <a:gd name="adj" fmla="val 42332"/>
            </a:avLst>
          </a:prstGeom>
          <a:solidFill>
            <a:srgbClr val="AFC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823371" y="4946333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N8n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823371" y="5379958"/>
            <a:ext cx="375987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Pipeline Automation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C9B8CC8-C63C-E119-4C34-1872E2D0E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6484" y="7621784"/>
            <a:ext cx="1843232" cy="515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19971" y="479641"/>
            <a:ext cx="7715964" cy="52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and Data Preparation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-1291277" y="3275484"/>
            <a:ext cx="6375678" cy="710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32.4M</a:t>
            </a:r>
            <a:endParaRPr lang="en-US" sz="5550" dirty="0"/>
          </a:p>
        </p:txBody>
      </p:sp>
      <p:sp>
        <p:nvSpPr>
          <p:cNvPr id="8" name="Text 6"/>
          <p:cNvSpPr/>
          <p:nvPr/>
        </p:nvSpPr>
        <p:spPr>
          <a:xfrm>
            <a:off x="719971" y="3943393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Order Records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-1393486" y="4272543"/>
            <a:ext cx="6375678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Total transactions analyzed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96562" y="3275484"/>
            <a:ext cx="6375678" cy="710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3.4M</a:t>
            </a:r>
            <a:endParaRPr lang="en-US" sz="5550" dirty="0"/>
          </a:p>
        </p:txBody>
      </p:sp>
      <p:sp>
        <p:nvSpPr>
          <p:cNvPr id="11" name="Text 9"/>
          <p:cNvSpPr/>
          <p:nvPr/>
        </p:nvSpPr>
        <p:spPr>
          <a:xfrm>
            <a:off x="4074216" y="4007867"/>
            <a:ext cx="2191107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Customer Orders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43875" y="4279776"/>
            <a:ext cx="6375678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Unique customer shopping baskets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2870" y="5464612"/>
            <a:ext cx="6375678" cy="710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49,688</a:t>
            </a:r>
            <a:endParaRPr lang="en-US" sz="5550" dirty="0"/>
          </a:p>
        </p:txBody>
      </p:sp>
      <p:sp>
        <p:nvSpPr>
          <p:cNvPr id="14" name="Text 12"/>
          <p:cNvSpPr/>
          <p:nvPr/>
        </p:nvSpPr>
        <p:spPr>
          <a:xfrm>
            <a:off x="2065867" y="6265578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2870" y="6594936"/>
            <a:ext cx="6375678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Unique items available for purchase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19402" y="1577697"/>
            <a:ext cx="6866309" cy="5008902"/>
          </a:xfrm>
          <a:prstGeom prst="roundRect">
            <a:avLst>
              <a:gd name="adj" fmla="val 865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649" y="1724516"/>
            <a:ext cx="317540" cy="25407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572792" y="1726212"/>
            <a:ext cx="4690467" cy="49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Challenges Found &amp; Addressed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317008" y="2422175"/>
            <a:ext cx="5720120" cy="4108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FFFF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Null Values:</a:t>
            </a:r>
            <a:r>
              <a:rPr lang="en-US" dirty="0">
                <a:solidFill>
                  <a:srgbClr val="FFFF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206K null values in 'days_since_prior_order' were identified 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FFFF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Large File Size:</a:t>
            </a:r>
            <a:r>
              <a:rPr 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'order_products.csv' exceeded 500 MB;  → requires dtype downcasting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FFFF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Duplicate Records:</a:t>
            </a:r>
            <a:r>
              <a:rPr lang="en-US" dirty="0">
                <a:solidFill>
                  <a:srgbClr val="FFFF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Duplicate  (order_id, product_id) pairs were removed to ensure data integrity.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FFFF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Out-of-Range Values:</a:t>
            </a:r>
            <a:r>
              <a:rPr lang="en-US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Invalid 'order_hour' (0–23) and 'day_of_week' (0–6) entries were validated and corrected </a:t>
            </a:r>
            <a:endParaRPr lang="en-US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FB70243F-477C-CAFA-5BBC-52E18C221D2B}"/>
              </a:ext>
            </a:extLst>
          </p:cNvPr>
          <p:cNvSpPr/>
          <p:nvPr/>
        </p:nvSpPr>
        <p:spPr>
          <a:xfrm>
            <a:off x="7095649" y="1643001"/>
            <a:ext cx="4690467" cy="49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5E07413D-3E84-CAA1-3EE3-816AA726A2A9}"/>
              </a:ext>
            </a:extLst>
          </p:cNvPr>
          <p:cNvSpPr/>
          <p:nvPr/>
        </p:nvSpPr>
        <p:spPr>
          <a:xfrm>
            <a:off x="2415242" y="1663583"/>
            <a:ext cx="2097681" cy="49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Source</a:t>
            </a:r>
            <a:endParaRPr lang="en-US" sz="200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4A8D54FE-16D1-C731-850B-A1034FC3C090}"/>
              </a:ext>
            </a:extLst>
          </p:cNvPr>
          <p:cNvSpPr/>
          <p:nvPr/>
        </p:nvSpPr>
        <p:spPr>
          <a:xfrm>
            <a:off x="1348074" y="1948908"/>
            <a:ext cx="3975118" cy="552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600" b="1" dirty="0">
                <a:solidFill>
                  <a:srgbClr val="FFFF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Kaggle</a:t>
            </a: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- </a:t>
            </a:r>
            <a:r>
              <a:rPr lang="en-US" sz="1600" dirty="0">
                <a:solidFill>
                  <a:srgbClr val="FFFFFF"/>
                </a:solidFill>
                <a:latin typeface="Cabin" pitchFamily="34" charset="0"/>
              </a:rPr>
              <a:t>Instacart grocery shopping Dataset</a:t>
            </a:r>
          </a:p>
          <a:p>
            <a:pPr>
              <a:lnSpc>
                <a:spcPct val="150000"/>
              </a:lnSpc>
              <a:buSzPct val="100000"/>
            </a:pPr>
            <a:endParaRPr lang="en-US" sz="1600" dirty="0">
              <a:solidFill>
                <a:srgbClr val="FFFFFF"/>
              </a:solidFill>
              <a:latin typeface="Cabin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4240B-AF9C-F9B3-CFF3-3ECDB6D08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6484" y="7621784"/>
            <a:ext cx="1843232" cy="515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595075"/>
            <a:ext cx="5881128" cy="50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Universal 5-Step Cleaning Pipeline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837724" y="1889998"/>
            <a:ext cx="4178618" cy="2668310"/>
          </a:xfrm>
          <a:prstGeom prst="roundRect">
            <a:avLst>
              <a:gd name="adj" fmla="val 117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12827" y="2099429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5586" y="2272189"/>
            <a:ext cx="282654" cy="2826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155" y="2937153"/>
            <a:ext cx="3759756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Standardize  Column Names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47155" y="3678793"/>
            <a:ext cx="375975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Transformed column names to lowercase with underscores for uniformity.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25772" y="1889998"/>
            <a:ext cx="4178737" cy="2668310"/>
          </a:xfrm>
          <a:prstGeom prst="roundRect">
            <a:avLst>
              <a:gd name="adj" fmla="val 117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000994" y="2099429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3754" y="2272189"/>
            <a:ext cx="282654" cy="2826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72388" y="2937153"/>
            <a:ext cx="3085505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Remove Empty Rows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5435203" y="3370778"/>
            <a:ext cx="375987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Eliminated rows that are entirely blank or contain only whitespace.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9613940" y="1889998"/>
            <a:ext cx="4178737" cy="2668310"/>
          </a:xfrm>
          <a:prstGeom prst="roundRect">
            <a:avLst>
              <a:gd name="adj" fmla="val 117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1389162" y="2099429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1921" y="2272189"/>
            <a:ext cx="282654" cy="2826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07360" y="2937153"/>
            <a:ext cx="279177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Remove duplicates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9823371" y="3370778"/>
            <a:ext cx="375987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Removed exact duplicate rows across the entire dataset.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37724" y="4767740"/>
            <a:ext cx="6372701" cy="2150864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3709868" y="4977170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2628" y="5149929"/>
            <a:ext cx="282654" cy="28265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792016" y="5814893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Fill Nulls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1047155" y="6248519"/>
            <a:ext cx="5953839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Replaced nulls with 0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419856" y="4767740"/>
            <a:ext cx="6372820" cy="2150864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0292120" y="4977170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64879" y="5149929"/>
            <a:ext cx="282654" cy="28265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74148" y="5814893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Outlier Removal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7629287" y="6248519"/>
            <a:ext cx="595395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Applied IQR × 1.5 method to remove outliers specifically from ML feature columns.</a:t>
            </a:r>
            <a:endParaRPr lang="en-US" sz="16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F13661C-C9EC-22DA-6E36-9A6054ED37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96484" y="7621784"/>
            <a:ext cx="1843232" cy="515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083" y="466963"/>
            <a:ext cx="8030289" cy="413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Engineering &amp; Machine Learning 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77622" y="1081623"/>
            <a:ext cx="10444639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FCEC9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Turning 32M Transactions into 6 Predictive signals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31" y="1562219"/>
            <a:ext cx="4757856" cy="37118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99942" y="1458754"/>
            <a:ext cx="1876782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Comparison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941" y="1772006"/>
            <a:ext cx="7391368" cy="24177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941" y="4394260"/>
            <a:ext cx="7582376" cy="1133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Accuracy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: LR scores 90.4% but predicts non-reorder almost every time — misleadingly high on imbalanced data</a:t>
            </a:r>
            <a:endParaRPr lang="en-US" sz="14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AUC-ROC :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 XGBoost 79% vs LR 78% — XGBoost better at distinguishing reorders from non-reorders</a:t>
            </a:r>
            <a:endParaRPr lang="en-US" sz="14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Recall (Reorders) 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   XGBoost catches 69% of  reorders vs LR's 15.9% 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35183" y="5434810"/>
            <a:ext cx="6583442" cy="413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Inventory Priority Scoring System</a:t>
            </a:r>
            <a:endParaRPr lang="en-US" sz="2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083" y="6018400"/>
            <a:ext cx="9032222" cy="147881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278273" y="5700935"/>
            <a:ext cx="2832477" cy="732949"/>
          </a:xfrm>
          <a:prstGeom prst="roundRect">
            <a:avLst>
              <a:gd name="adj" fmla="val 288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11267553" y="6136439"/>
            <a:ext cx="1999548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Score ≥ 0.66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10302342" y="6524824"/>
            <a:ext cx="2832478" cy="732949"/>
          </a:xfrm>
          <a:prstGeom prst="roundRect">
            <a:avLst>
              <a:gd name="adj" fmla="val 288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11057220" y="6737237"/>
            <a:ext cx="1655564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Medium Priority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267553" y="6987894"/>
            <a:ext cx="1234898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Score 0.33–0.66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0302341" y="7339580"/>
            <a:ext cx="2832477" cy="797253"/>
          </a:xfrm>
          <a:prstGeom prst="roundRect">
            <a:avLst>
              <a:gd name="adj" fmla="val 288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11125538" y="7544505"/>
            <a:ext cx="1655564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Low Priority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335871" y="7776893"/>
            <a:ext cx="1098263" cy="270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Score &lt; 0.33</a:t>
            </a:r>
            <a:endParaRPr lang="en-US" sz="11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AF6EC062-571C-8085-2CCF-97D3C4CF26AA}"/>
              </a:ext>
            </a:extLst>
          </p:cNvPr>
          <p:cNvSpPr/>
          <p:nvPr/>
        </p:nvSpPr>
        <p:spPr>
          <a:xfrm>
            <a:off x="11125538" y="5884299"/>
            <a:ext cx="1655564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High Priority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DA5EA4A-C5A9-9CFD-2977-7F64CDCB1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34818" y="7621784"/>
            <a:ext cx="1404898" cy="515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4975" y="424279"/>
            <a:ext cx="6553200" cy="43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Solution for Business Questions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849874" y="918091"/>
            <a:ext cx="2079069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49873" y="1205180"/>
            <a:ext cx="2886432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Q1. Top Selling Products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099" y="1525756"/>
            <a:ext cx="5333332" cy="25495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0" y="1177885"/>
            <a:ext cx="3727133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Q2.  Most Reordered products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525756"/>
            <a:ext cx="5737146" cy="25495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67482" y="4401690"/>
            <a:ext cx="3051215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Q3. Peak shopping hours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8099" y="4800837"/>
            <a:ext cx="5333331" cy="2868573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00837"/>
            <a:ext cx="5737146" cy="28685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503DA1-7B68-7F2F-37C6-529A6BB6FB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86486" y="7678608"/>
            <a:ext cx="1753229" cy="4582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67" y="496253"/>
            <a:ext cx="10297886" cy="500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n8n Automation Pipeline &amp; Architecture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68" y="1359575"/>
            <a:ext cx="8456057" cy="621827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8497" y="1359575"/>
            <a:ext cx="850821" cy="1021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867549" y="1486031"/>
            <a:ext cx="2463440" cy="293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Trigger Run by Click</a:t>
            </a:r>
            <a:endParaRPr lang="en-US" sz="15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8497" y="2380655"/>
            <a:ext cx="850821" cy="10210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867549" y="2550795"/>
            <a:ext cx="2002155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cleaning</a:t>
            </a:r>
            <a:endParaRPr lang="en-US" sz="1550" dirty="0"/>
          </a:p>
        </p:txBody>
      </p:sp>
      <p:sp>
        <p:nvSpPr>
          <p:cNvPr id="8" name="Text 3"/>
          <p:cNvSpPr/>
          <p:nvPr/>
        </p:nvSpPr>
        <p:spPr>
          <a:xfrm>
            <a:off x="10867549" y="2939296"/>
            <a:ext cx="277058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8497" y="3401735"/>
            <a:ext cx="850821" cy="10210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867549" y="3571875"/>
            <a:ext cx="213193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Machine Learning</a:t>
            </a:r>
            <a:endParaRPr lang="en-US" sz="1550" dirty="0"/>
          </a:p>
        </p:txBody>
      </p:sp>
      <p:sp>
        <p:nvSpPr>
          <p:cNvPr id="11" name="Text 5"/>
          <p:cNvSpPr/>
          <p:nvPr/>
        </p:nvSpPr>
        <p:spPr>
          <a:xfrm>
            <a:off x="10867549" y="3960376"/>
            <a:ext cx="277058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8497" y="4422815"/>
            <a:ext cx="850821" cy="10210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867549" y="4592955"/>
            <a:ext cx="2002155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Gemini AI Agent</a:t>
            </a:r>
            <a:endParaRPr lang="en-US" sz="1550" dirty="0"/>
          </a:p>
        </p:txBody>
      </p:sp>
      <p:sp>
        <p:nvSpPr>
          <p:cNvPr id="14" name="Text 7"/>
          <p:cNvSpPr/>
          <p:nvPr/>
        </p:nvSpPr>
        <p:spPr>
          <a:xfrm>
            <a:off x="10867549" y="4981456"/>
            <a:ext cx="277058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3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8497" y="5443895"/>
            <a:ext cx="850821" cy="10210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867549" y="5614035"/>
            <a:ext cx="2002155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Gmail</a:t>
            </a:r>
            <a:endParaRPr lang="en-US" sz="1550" dirty="0"/>
          </a:p>
        </p:txBody>
      </p:sp>
      <p:sp>
        <p:nvSpPr>
          <p:cNvPr id="17" name="Text 9"/>
          <p:cNvSpPr/>
          <p:nvPr/>
        </p:nvSpPr>
        <p:spPr>
          <a:xfrm>
            <a:off x="10867549" y="6002536"/>
            <a:ext cx="277058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5D9F204-E320-B430-9EDE-2E9E5EF18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6484" y="7621784"/>
            <a:ext cx="1843232" cy="515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6987" y="483751"/>
            <a:ext cx="479952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Q4.  Inventory Insights From AI  Agent</a:t>
            </a:r>
            <a:endParaRPr lang="en-US" sz="17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06987" y="1051679"/>
            <a:ext cx="6077864" cy="325052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987" y="4556284"/>
            <a:ext cx="6077864" cy="3189565"/>
          </a:xfrm>
          <a:prstGeom prst="rect">
            <a:avLst/>
          </a:prstGeom>
        </p:spPr>
      </p:pic>
      <p:pic>
        <p:nvPicPr>
          <p:cNvPr id="5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15326" y="1051679"/>
            <a:ext cx="4708088" cy="6694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37EAFB-A93A-21EE-43EB-EA57693252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96484" y="7745848"/>
            <a:ext cx="1843232" cy="3909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274" y="1052989"/>
            <a:ext cx="10460117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&amp; Future Enhancements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73498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we Built</a:t>
            </a:r>
            <a:endParaRPr lang="en-US" sz="19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37724" y="3252430"/>
            <a:ext cx="6221968" cy="3308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End-to-end automated analytics pipeline from raw CSV to manager email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XGBoost model — AUC-ROC 0.790, Recall 69% on reorder prediction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5-step universal cleaning pipeline — handles any CSV automatically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Power BI dashboard answering all 4 business questions interactively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n8n + Gemini AI — plain-English insights, less manual effort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78328" y="2734985"/>
            <a:ext cx="3265765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Future Enhancements</a:t>
            </a:r>
            <a:endParaRPr lang="en-US" sz="1900" dirty="0">
              <a:solidFill>
                <a:srgbClr val="FFFF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578328" y="3252430"/>
            <a:ext cx="6221968" cy="2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Deploy to Google Cloud Run — eliminate Colab session management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Scheduled trigger — fully event-driven pipeline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Try with Transformer models for seasonal product patterns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Real-time POS streaming — up-to-the-minute inventory alerts</a:t>
            </a:r>
            <a:endParaRPr lang="en-US" sz="16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Multi-store deployment with department-level trend analysis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81CCE-9033-9E4D-C2B7-90DAD4E8B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6484" y="7621784"/>
            <a:ext cx="1843232" cy="515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911554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7200" dirty="0">
                <a:solidFill>
                  <a:srgbClr val="FFFFFF"/>
                </a:solidFill>
                <a:ea typeface="Unbounded" pitchFamily="34" charset="-122"/>
                <a:cs typeface="Unbounded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37724" y="4412218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66324" y="5111473"/>
            <a:ext cx="548640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Natarajan, Rustam, Yash, Duy Nguyen, Kushal, Rajkumar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568</Words>
  <Application>Microsoft Macintosh PowerPoint</Application>
  <PresentationFormat>Custom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Unbounded</vt:lpstr>
      <vt:lpstr>Unbounded Bold</vt:lpstr>
      <vt:lpstr>Cabin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Kushal Pathapati</cp:lastModifiedBy>
  <cp:revision>27</cp:revision>
  <dcterms:created xsi:type="dcterms:W3CDTF">2026-04-10T04:04:06Z</dcterms:created>
  <dcterms:modified xsi:type="dcterms:W3CDTF">2026-04-10T14:12:04Z</dcterms:modified>
</cp:coreProperties>
</file>